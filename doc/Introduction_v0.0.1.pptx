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0695F-2BB5-9979-B119-2A57D6AB72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BC9D9E-0919-DE22-6E77-46BC96EBB5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9B341-1373-CFC6-05DE-556678D2D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FD85B-4D3A-4103-91DF-9C2E0C4D5A57}" type="datetimeFigureOut">
              <a:rPr lang="en-SG" smtClean="0"/>
              <a:t>29/9/2026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BE341-DADB-1EB3-F53C-5908D17F1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078C4-87BB-F8BE-D274-FB0EB19A6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7DC1F-0AE5-4FD1-9314-D22E3A8CA2F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41328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E7A99-537B-CE60-9C13-591C9D7D9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B9EF2-04BE-8B63-2423-D5D1289E4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D08CB-6DF2-EF7A-C80F-686FDD6C0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FD85B-4D3A-4103-91DF-9C2E0C4D5A57}" type="datetimeFigureOut">
              <a:rPr lang="en-SG" smtClean="0"/>
              <a:t>29/9/2026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7FEF-8FBD-2D77-B641-F36CDD476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18B9C-9A62-F5D9-7394-F32E65D99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7DC1F-0AE5-4FD1-9314-D22E3A8CA2F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49557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65828-7CFD-CD12-677B-14BFFCD60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25F04-182E-D1C1-1996-84EFF562A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B073E-94CD-58CF-D822-EA5F62A0B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FD85B-4D3A-4103-91DF-9C2E0C4D5A57}" type="datetimeFigureOut">
              <a:rPr lang="en-SG" smtClean="0"/>
              <a:t>29/9/2026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C2303-F2C0-2346-C290-CD479AFD2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6F0B4-011D-9E92-E15E-63EF8A9F5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7DC1F-0AE5-4FD1-9314-D22E3A8CA2F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39120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B19A4-C0F0-7B7A-F768-059BA6E09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D9198-6D9C-0278-91BD-5CA36F42E8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8874ED-6C7D-BCEE-420C-B9B7FFF27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55399F-EC3D-69F1-4335-D1E9E9398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FD85B-4D3A-4103-91DF-9C2E0C4D5A57}" type="datetimeFigureOut">
              <a:rPr lang="en-SG" smtClean="0"/>
              <a:t>29/9/2026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0E165-8952-8F5E-51A7-CEC0E2416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ACD79-0BF4-DD8A-1D20-44DDE7524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7DC1F-0AE5-4FD1-9314-D22E3A8CA2F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03155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6EFFF-6FAA-4944-48F1-FCF2A6D73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6D30C3-0F0F-2989-7F93-729E998A8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EACE5C-D889-ECAB-B04D-67E80F6DE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61418B-1D80-2E2F-4565-74BE422C87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C5E3A4-9063-0429-043F-3030769631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EAF23E-8ADD-DB61-7E27-C19D98BB3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FD85B-4D3A-4103-91DF-9C2E0C4D5A57}" type="datetimeFigureOut">
              <a:rPr lang="en-SG" smtClean="0"/>
              <a:t>29/9/2026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372AAB-55F6-27C9-FF9F-BD69570CE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EC3D5C-C3CD-EFCA-C164-5089AB6D2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7DC1F-0AE5-4FD1-9314-D22E3A8CA2F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18509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4D422-20B5-7670-65CF-20CCCF493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3AABD9-472B-CEDB-2384-F7F7F9E7E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FD85B-4D3A-4103-91DF-9C2E0C4D5A57}" type="datetimeFigureOut">
              <a:rPr lang="en-SG" smtClean="0"/>
              <a:t>29/9/2026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91ACA4-74BD-D385-049A-E3E4D2B3E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7E7B29-333E-C81D-AA72-1222BE23D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7DC1F-0AE5-4FD1-9314-D22E3A8CA2F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85384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8809DB-2325-7059-9CE8-265AA5B97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FD85B-4D3A-4103-91DF-9C2E0C4D5A57}" type="datetimeFigureOut">
              <a:rPr lang="en-SG" smtClean="0"/>
              <a:t>29/9/2026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91DBB3-AD29-25BF-CEB0-457F25D00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ECED44-8185-C395-F219-69A0AFACC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7DC1F-0AE5-4FD1-9314-D22E3A8CA2F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30350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EE6D0-38F2-EEDC-BB7B-D343D4F8D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9D30B-F608-3853-0A5B-5DCECCE12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773066-64CB-6474-A956-C79C725EF7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90279-F842-4D5D-927F-95C9DFC06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FD85B-4D3A-4103-91DF-9C2E0C4D5A57}" type="datetimeFigureOut">
              <a:rPr lang="en-SG" smtClean="0"/>
              <a:t>29/9/2026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2FF5B-E45D-9606-2770-67B3DF109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F51561-BD63-F38D-9E9A-345D6F1F3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7DC1F-0AE5-4FD1-9314-D22E3A8CA2F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59520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0C208-C7BE-BB63-406B-48BAAE85C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7C2A48-5D94-D195-036B-0C2DA4CCBA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8E1E52-9DA7-25AC-A377-3D0801F972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C7CA6-AEA6-03C4-794A-CF484EC3F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FD85B-4D3A-4103-91DF-9C2E0C4D5A57}" type="datetimeFigureOut">
              <a:rPr lang="en-SG" smtClean="0"/>
              <a:t>29/9/2026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E6C600-150E-3EC0-A878-8DAF497B3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124FF2-C885-CCE8-3713-3A705AC6C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7DC1F-0AE5-4FD1-9314-D22E3A8CA2F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99766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4822A-C396-1090-985F-6B2847A86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5A8480-044F-8437-3379-B2EDB1EBA5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C29F4-A69B-4E2A-A63C-CB536415E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FD85B-4D3A-4103-91DF-9C2E0C4D5A57}" type="datetimeFigureOut">
              <a:rPr lang="en-SG" smtClean="0"/>
              <a:t>29/9/2026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8DB3D-DA3C-D417-950B-B537C5ED0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C1353-F67D-6551-B332-B3A4ED49F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7DC1F-0AE5-4FD1-9314-D22E3A8CA2F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65356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552F8D-04A5-35C8-68EC-870C26A706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FE4F35-403D-0052-7CA9-543B1DAEC5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4694E-9CB9-47E1-C3CE-AC49D66E4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FD85B-4D3A-4103-91DF-9C2E0C4D5A57}" type="datetimeFigureOut">
              <a:rPr lang="en-SG" smtClean="0"/>
              <a:t>29/9/2026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1409E-CA43-0FE8-0DE8-9F7CBA809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8F6D3-6343-06BD-75CA-79E31FDC8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7DC1F-0AE5-4FD1-9314-D22E3A8CA2F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68896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66E391-682C-8B91-0ABC-872B3412F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CAC91D-47AD-7028-90BC-C3494F5F5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1DF22-152A-39DA-550A-A539A6039A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7FD85B-4D3A-4103-91DF-9C2E0C4D5A57}" type="datetimeFigureOut">
              <a:rPr lang="en-SG" smtClean="0"/>
              <a:t>29/9/2026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9D474-7D51-EB65-761A-6D4C8021C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304C4-34CC-BB86-B9F7-730DF3C8AB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67DC1F-0AE5-4FD1-9314-D22E3A8CA2F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21687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B4A17D-C1C9-A9D6-B913-202D1AEA47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" y="1124712"/>
            <a:ext cx="10003536" cy="503040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39276F-0713-109E-C47C-9BD0CF6E4771}"/>
              </a:ext>
            </a:extLst>
          </p:cNvPr>
          <p:cNvSpPr txBox="1"/>
          <p:nvPr/>
        </p:nvSpPr>
        <p:spPr>
          <a:xfrm>
            <a:off x="10277856" y="1008426"/>
            <a:ext cx="201168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/>
              <a:t>Main Components: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200" dirty="0"/>
              <a:t>One physical world simulator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200" dirty="0"/>
              <a:t>1 SCADA HMI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200" dirty="0"/>
              <a:t>3 PLC with 2 kinds o OT protocol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200" dirty="0"/>
              <a:t>2 Metro Stations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200" dirty="0"/>
              <a:t>4 Tracks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200" dirty="0"/>
              <a:t>4 Trains on 2 track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200" dirty="0"/>
              <a:t>4 3</a:t>
            </a:r>
            <a:r>
              <a:rPr lang="en-SG" sz="1200" baseline="30000" dirty="0"/>
              <a:t>rd</a:t>
            </a:r>
            <a:r>
              <a:rPr lang="en-SG" sz="1200" dirty="0"/>
              <a:t> rail power supply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200" dirty="0"/>
              <a:t>CBTC train signalling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200" dirty="0"/>
              <a:t>3 level station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200" dirty="0"/>
              <a:t>Light system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200" dirty="0"/>
              <a:t>HVAC system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200" dirty="0"/>
              <a:t>Ticket gates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200" dirty="0"/>
              <a:t>Elevators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200" dirty="0"/>
              <a:t>Escalators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200" dirty="0"/>
              <a:t>Platform Passenger protection screen door.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200" dirty="0"/>
              <a:t>POE surveillance cameras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200" dirty="0"/>
              <a:t>2 Train Information board screen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200" dirty="0"/>
              <a:t>Emergency and fire alarm buttons.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200" dirty="0"/>
              <a:t>Auto train dock and departure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200" dirty="0"/>
              <a:t>20 direction signal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200" dirty="0"/>
              <a:t>16 station signal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0CC2F0-8731-D71C-D42C-3686A58A6039}"/>
              </a:ext>
            </a:extLst>
          </p:cNvPr>
          <p:cNvSpPr txBox="1"/>
          <p:nvPr/>
        </p:nvSpPr>
        <p:spPr>
          <a:xfrm>
            <a:off x="210312" y="639094"/>
            <a:ext cx="4489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/>
              <a:t>Metro Railway Station Cyber Twin System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B3447C-D314-4E3C-6DC0-6CD6F935D8E6}"/>
              </a:ext>
            </a:extLst>
          </p:cNvPr>
          <p:cNvSpPr txBox="1"/>
          <p:nvPr/>
        </p:nvSpPr>
        <p:spPr>
          <a:xfrm>
            <a:off x="274320" y="6271407"/>
            <a:ext cx="10287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>
                <a:solidFill>
                  <a:srgbClr val="C00000"/>
                </a:solidFill>
              </a:rPr>
              <a:t>Critical Infrastructure Sectors : OT security for Public Transport System and Public Critical Building System</a:t>
            </a:r>
          </a:p>
        </p:txBody>
      </p:sp>
    </p:spTree>
    <p:extLst>
      <p:ext uri="{BB962C8B-B14F-4D97-AF65-F5344CB8AC3E}">
        <p14:creationId xmlns:p14="http://schemas.microsoft.com/office/powerpoint/2010/main" val="1138813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0481CA-6FDD-C7D5-4DC1-5C55F6E37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77" y="1561023"/>
            <a:ext cx="8740801" cy="37193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1D6A19-35DB-C07A-BB14-426ADC226689}"/>
              </a:ext>
            </a:extLst>
          </p:cNvPr>
          <p:cNvSpPr txBox="1"/>
          <p:nvPr/>
        </p:nvSpPr>
        <p:spPr>
          <a:xfrm>
            <a:off x="8935178" y="4238135"/>
            <a:ext cx="29073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Station Control HMI VM</a:t>
            </a:r>
            <a:endParaRPr lang="en-SG" sz="16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F8AF9F8-378F-CC83-CB46-D1FD6E9CA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5178" y="4576689"/>
            <a:ext cx="3167136" cy="211660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233FAE5-08C0-3839-23CD-D6D5A05653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228" y="5520944"/>
            <a:ext cx="567296" cy="567296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55AA14B-CD2A-2717-BAC2-FAE02F150007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6665876" y="5232181"/>
            <a:ext cx="0" cy="2887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217A8B8-DED6-3244-6D58-2D77C11DC8DD}"/>
              </a:ext>
            </a:extLst>
          </p:cNvPr>
          <p:cNvSpPr txBox="1"/>
          <p:nvPr/>
        </p:nvSpPr>
        <p:spPr>
          <a:xfrm>
            <a:off x="6949524" y="5573759"/>
            <a:ext cx="1152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/>
              <a:t>Railway Track Control PLC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FC66FA7-D392-A339-C652-E7003F607E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527" y="5523892"/>
            <a:ext cx="567296" cy="56729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36E5CE3-90B6-8F8A-B28F-0BC7E257CC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78" y="5523892"/>
            <a:ext cx="567296" cy="567296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A94C5CF-6A7A-8731-FF03-C752B3A76FF2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2973175" y="5232181"/>
            <a:ext cx="0" cy="291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CA1630A-4CB5-5513-37DB-26904C279262}"/>
              </a:ext>
            </a:extLst>
          </p:cNvPr>
          <p:cNvCxnSpPr>
            <a:cxnSpLocks/>
          </p:cNvCxnSpPr>
          <p:nvPr/>
        </p:nvCxnSpPr>
        <p:spPr>
          <a:xfrm>
            <a:off x="583543" y="5225636"/>
            <a:ext cx="0" cy="291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326B5ED-2488-BD06-5F41-E81FCB5F61E0}"/>
              </a:ext>
            </a:extLst>
          </p:cNvPr>
          <p:cNvSpPr txBox="1"/>
          <p:nvPr/>
        </p:nvSpPr>
        <p:spPr>
          <a:xfrm>
            <a:off x="3268499" y="5576047"/>
            <a:ext cx="16975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/>
              <a:t>Railway Station-02 Building  Control PLC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AE92C7-68EB-54D5-B67A-6AB13B4FA960}"/>
              </a:ext>
            </a:extLst>
          </p:cNvPr>
          <p:cNvSpPr txBox="1"/>
          <p:nvPr/>
        </p:nvSpPr>
        <p:spPr>
          <a:xfrm>
            <a:off x="841076" y="5573759"/>
            <a:ext cx="16975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/>
              <a:t>Railway Station-01 Building  Control PLC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0D9F7D7-B851-E51B-0CB6-97DC8BDE29C8}"/>
              </a:ext>
            </a:extLst>
          </p:cNvPr>
          <p:cNvSpPr txBox="1"/>
          <p:nvPr/>
        </p:nvSpPr>
        <p:spPr>
          <a:xfrm>
            <a:off x="6663540" y="5240686"/>
            <a:ext cx="11369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UPD Port 3001</a:t>
            </a:r>
            <a:endParaRPr lang="en-SG" sz="11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5D0433-A917-6ED2-C002-80CC598C141B}"/>
              </a:ext>
            </a:extLst>
          </p:cNvPr>
          <p:cNvSpPr txBox="1"/>
          <p:nvPr/>
        </p:nvSpPr>
        <p:spPr>
          <a:xfrm>
            <a:off x="2944422" y="5247231"/>
            <a:ext cx="11369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UPD Port 3001</a:t>
            </a:r>
            <a:endParaRPr lang="en-SG" sz="11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5DB2F02-BF48-4158-A3A1-589018DF0058}"/>
              </a:ext>
            </a:extLst>
          </p:cNvPr>
          <p:cNvSpPr txBox="1"/>
          <p:nvPr/>
        </p:nvSpPr>
        <p:spPr>
          <a:xfrm>
            <a:off x="560922" y="5255737"/>
            <a:ext cx="11369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UPD Port 3001</a:t>
            </a:r>
            <a:endParaRPr lang="en-SG" sz="11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7D83B7E-A2B1-80C7-6FA7-DC2F5866EAB6}"/>
              </a:ext>
            </a:extLst>
          </p:cNvPr>
          <p:cNvCxnSpPr>
            <a:cxnSpLocks/>
          </p:cNvCxnSpPr>
          <p:nvPr/>
        </p:nvCxnSpPr>
        <p:spPr>
          <a:xfrm>
            <a:off x="288978" y="6336792"/>
            <a:ext cx="8646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2070A94-B2A6-FB01-CCD3-3A574D1707C8}"/>
              </a:ext>
            </a:extLst>
          </p:cNvPr>
          <p:cNvCxnSpPr>
            <a:cxnSpLocks/>
          </p:cNvCxnSpPr>
          <p:nvPr/>
        </p:nvCxnSpPr>
        <p:spPr>
          <a:xfrm>
            <a:off x="288978" y="6571488"/>
            <a:ext cx="8646200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5EB7E38-FB89-DA90-E590-ED1B46B4591D}"/>
              </a:ext>
            </a:extLst>
          </p:cNvPr>
          <p:cNvCxnSpPr>
            <a:cxnSpLocks/>
          </p:cNvCxnSpPr>
          <p:nvPr/>
        </p:nvCxnSpPr>
        <p:spPr>
          <a:xfrm flipH="1">
            <a:off x="570066" y="6091188"/>
            <a:ext cx="0" cy="2456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4E5ADBD-F368-781F-84E8-A7D55E391935}"/>
              </a:ext>
            </a:extLst>
          </p:cNvPr>
          <p:cNvCxnSpPr>
            <a:cxnSpLocks/>
          </p:cNvCxnSpPr>
          <p:nvPr/>
        </p:nvCxnSpPr>
        <p:spPr>
          <a:xfrm flipH="1">
            <a:off x="2981088" y="6088240"/>
            <a:ext cx="0" cy="2456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2DCE6129-501A-4C18-ECEF-AD479CA7D446}"/>
              </a:ext>
            </a:extLst>
          </p:cNvPr>
          <p:cNvSpPr txBox="1"/>
          <p:nvPr/>
        </p:nvSpPr>
        <p:spPr>
          <a:xfrm>
            <a:off x="7910613" y="6051818"/>
            <a:ext cx="1067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4">
                    <a:lumMod val="50000"/>
                  </a:schemeClr>
                </a:solidFill>
              </a:rPr>
              <a:t>MQTT  BUS</a:t>
            </a:r>
            <a:endParaRPr lang="en-SG" sz="12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474090E-CFFB-A2D1-73C2-40D1BE417180}"/>
              </a:ext>
            </a:extLst>
          </p:cNvPr>
          <p:cNvCxnSpPr>
            <a:cxnSpLocks/>
          </p:cNvCxnSpPr>
          <p:nvPr/>
        </p:nvCxnSpPr>
        <p:spPr>
          <a:xfrm>
            <a:off x="6663540" y="6091188"/>
            <a:ext cx="0" cy="4803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3331C941-B26B-70C5-DB5B-7E6F4A46A36F}"/>
              </a:ext>
            </a:extLst>
          </p:cNvPr>
          <p:cNvSpPr txBox="1"/>
          <p:nvPr/>
        </p:nvSpPr>
        <p:spPr>
          <a:xfrm>
            <a:off x="227580" y="6344767"/>
            <a:ext cx="1067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>
                <a:solidFill>
                  <a:schemeClr val="accent2">
                    <a:lumMod val="75000"/>
                  </a:schemeClr>
                </a:solidFill>
              </a:rPr>
              <a:t>DNP3.0 BUS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A47D7F-E26C-370A-495B-9305F6739591}"/>
              </a:ext>
            </a:extLst>
          </p:cNvPr>
          <p:cNvSpPr txBox="1"/>
          <p:nvPr/>
        </p:nvSpPr>
        <p:spPr>
          <a:xfrm>
            <a:off x="570066" y="6087566"/>
            <a:ext cx="806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Port1883</a:t>
            </a:r>
            <a:endParaRPr lang="en-SG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6E69609-124D-49CD-5B4D-04CFAA25927C}"/>
              </a:ext>
            </a:extLst>
          </p:cNvPr>
          <p:cNvSpPr txBox="1"/>
          <p:nvPr/>
        </p:nvSpPr>
        <p:spPr>
          <a:xfrm>
            <a:off x="2928505" y="6090583"/>
            <a:ext cx="806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Port1883</a:t>
            </a:r>
            <a:endParaRPr lang="en-SG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B9BC496-C07E-1B75-47D1-4EE91AB066BA}"/>
              </a:ext>
            </a:extLst>
          </p:cNvPr>
          <p:cNvSpPr txBox="1"/>
          <p:nvPr/>
        </p:nvSpPr>
        <p:spPr>
          <a:xfrm>
            <a:off x="6663540" y="6328817"/>
            <a:ext cx="9485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Port20000</a:t>
            </a:r>
            <a:endParaRPr lang="en-SG" sz="1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3FDC289-FFD8-42FA-F15F-3B32F544F581}"/>
              </a:ext>
            </a:extLst>
          </p:cNvPr>
          <p:cNvSpPr txBox="1"/>
          <p:nvPr/>
        </p:nvSpPr>
        <p:spPr>
          <a:xfrm>
            <a:off x="227580" y="1172451"/>
            <a:ext cx="4489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/>
              <a:t>System view and network configuration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5D29F84-5D72-D9A4-3683-07EDFE0F25CE}"/>
              </a:ext>
            </a:extLst>
          </p:cNvPr>
          <p:cNvSpPr txBox="1"/>
          <p:nvPr/>
        </p:nvSpPr>
        <p:spPr>
          <a:xfrm>
            <a:off x="8935178" y="1332548"/>
            <a:ext cx="3167135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Three Level ISA-95/IEC-62264 Architecture: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/>
              <a:t>Level 0 : Physical Field I/O device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/>
              <a:t>Level 1 : OT System Controllers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/>
              <a:t>Level 2 : OCC Processing Lan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r>
              <a:rPr lang="en-US" sz="1400" b="1" dirty="0"/>
              <a:t>Two OT Protocol 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400" b="1" dirty="0"/>
              <a:t>IEC-20922 MQTT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400" b="1" dirty="0"/>
              <a:t>IEEE 1815-2021 DNP3.0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400" b="1" dirty="0"/>
          </a:p>
          <a:p>
            <a:r>
              <a:rPr lang="en-US" sz="1400" b="1" dirty="0"/>
              <a:t>Two subnet: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/>
              <a:t>Green team physical signal subnet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/>
              <a:t>Blue Team OT SCADA subnet </a:t>
            </a:r>
          </a:p>
          <a:p>
            <a:endParaRPr lang="en-US" sz="1200" b="1" dirty="0"/>
          </a:p>
          <a:p>
            <a:endParaRPr lang="en-SG" sz="1200" dirty="0"/>
          </a:p>
        </p:txBody>
      </p:sp>
    </p:spTree>
    <p:extLst>
      <p:ext uri="{BB962C8B-B14F-4D97-AF65-F5344CB8AC3E}">
        <p14:creationId xmlns:p14="http://schemas.microsoft.com/office/powerpoint/2010/main" val="2311108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</Words>
  <Application>Microsoft Office PowerPoint</Application>
  <PresentationFormat>Widescreen</PresentationFormat>
  <Paragraphs>49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yuancheng Liu</dc:creator>
  <cp:lastModifiedBy>yuancheng Liu</cp:lastModifiedBy>
  <cp:revision>1</cp:revision>
  <dcterms:created xsi:type="dcterms:W3CDTF">2026-09-29T05:38:04Z</dcterms:created>
  <dcterms:modified xsi:type="dcterms:W3CDTF">2026-09-29T05:38:21Z</dcterms:modified>
</cp:coreProperties>
</file>